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6" r:id="rId10"/>
    <p:sldId id="277" r:id="rId11"/>
    <p:sldId id="279" r:id="rId12"/>
    <p:sldId id="280" r:id="rId13"/>
    <p:sldId id="281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38E44-0139-4D74-AD1A-BB7CDA5B1C7F}" v="1440" dt="2026-07-23T11:34:12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BF0EB4-F14C-4E33-9706-7C4CF19A3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4"/>
            <a:ext cx="8791575" cy="1496146"/>
          </a:xfrm>
        </p:spPr>
        <p:txBody>
          <a:bodyPr/>
          <a:lstStyle/>
          <a:p>
            <a:pPr algn="ctr"/>
            <a:r>
              <a:rPr lang="es-ES" dirty="0"/>
              <a:t>Deep </a:t>
            </a:r>
            <a:r>
              <a:rPr lang="es-ES" dirty="0" err="1"/>
              <a:t>learning</a:t>
            </a:r>
            <a:endParaRPr lang="ca-ES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CBE648C-8E94-443A-AEDB-BD9683F2F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ES" dirty="0"/>
              <a:t>Albert </a:t>
            </a:r>
            <a:r>
              <a:rPr lang="es-ES" dirty="0" err="1"/>
              <a:t>olivella</a:t>
            </a:r>
            <a:endParaRPr lang="ca-E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19E024E7-8DAB-4933-92EF-6F0179144102}"/>
              </a:ext>
            </a:extLst>
          </p:cNvPr>
          <p:cNvSpPr txBox="1">
            <a:spLocks/>
          </p:cNvSpPr>
          <p:nvPr/>
        </p:nvSpPr>
        <p:spPr>
          <a:xfrm>
            <a:off x="1876424" y="2618510"/>
            <a:ext cx="8791575" cy="4281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000" dirty="0" err="1"/>
              <a:t>Image</a:t>
            </a:r>
            <a:r>
              <a:rPr lang="es-ES" sz="2000" dirty="0"/>
              <a:t> </a:t>
            </a:r>
            <a:r>
              <a:rPr lang="es-ES" sz="2000" dirty="0" err="1"/>
              <a:t>classification</a:t>
            </a:r>
            <a:r>
              <a:rPr lang="es-ES" sz="2000" dirty="0"/>
              <a:t> </a:t>
            </a:r>
            <a:r>
              <a:rPr lang="es-ES" sz="2000" dirty="0" err="1"/>
              <a:t>on</a:t>
            </a:r>
            <a:r>
              <a:rPr lang="es-ES" sz="2000" dirty="0"/>
              <a:t> </a:t>
            </a:r>
            <a:r>
              <a:rPr lang="es-ES" sz="2000" dirty="0" err="1"/>
              <a:t>cifar</a:t>
            </a:r>
            <a:r>
              <a:rPr lang="es-ES" sz="2000" dirty="0"/>
              <a:t> 10</a:t>
            </a:r>
            <a:endParaRPr lang="ca-ES" sz="2000" dirty="0"/>
          </a:p>
        </p:txBody>
      </p:sp>
    </p:spTree>
    <p:extLst>
      <p:ext uri="{BB962C8B-B14F-4D97-AF65-F5344CB8AC3E}">
        <p14:creationId xmlns:p14="http://schemas.microsoft.com/office/powerpoint/2010/main" val="116711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6FF43B75-5A6A-492F-A955-51ABD1B4D013}"/>
              </a:ext>
            </a:extLst>
          </p:cNvPr>
          <p:cNvSpPr/>
          <p:nvPr/>
        </p:nvSpPr>
        <p:spPr>
          <a:xfrm>
            <a:off x="1837113" y="170410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Objective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6E7DD86-7604-417B-B2CB-2A7CE3363F2C}"/>
              </a:ext>
            </a:extLst>
          </p:cNvPr>
          <p:cNvSpPr/>
          <p:nvPr/>
        </p:nvSpPr>
        <p:spPr>
          <a:xfrm>
            <a:off x="6180513" y="170410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Data </a:t>
            </a:r>
            <a:r>
              <a:rPr lang="es-ES" dirty="0" err="1">
                <a:solidFill>
                  <a:schemeClr val="bg1"/>
                </a:solidFill>
              </a:rPr>
              <a:t>Exploration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F6194B81-58A1-434A-B8AF-23FC246E9BBE}"/>
              </a:ext>
            </a:extLst>
          </p:cNvPr>
          <p:cNvSpPr/>
          <p:nvPr/>
        </p:nvSpPr>
        <p:spPr>
          <a:xfrm>
            <a:off x="1837113" y="293854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Data </a:t>
            </a:r>
            <a:r>
              <a:rPr lang="es-ES" dirty="0" err="1">
                <a:solidFill>
                  <a:schemeClr val="bg1"/>
                </a:solidFill>
              </a:rPr>
              <a:t>Preprocessing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20070DBF-AF85-41FD-AC7E-5AD8B3A8CAAB}"/>
              </a:ext>
            </a:extLst>
          </p:cNvPr>
          <p:cNvSpPr/>
          <p:nvPr/>
        </p:nvSpPr>
        <p:spPr>
          <a:xfrm>
            <a:off x="6180513" y="293854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Build</a:t>
            </a:r>
            <a:r>
              <a:rPr lang="es-ES" dirty="0">
                <a:solidFill>
                  <a:schemeClr val="bg1"/>
                </a:solidFill>
              </a:rPr>
              <a:t> CNN: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6420558B-078B-4DEB-8801-4B3703CE42FD}"/>
              </a:ext>
            </a:extLst>
          </p:cNvPr>
          <p:cNvSpPr/>
          <p:nvPr/>
        </p:nvSpPr>
        <p:spPr>
          <a:xfrm>
            <a:off x="1837113" y="417298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Improvement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Methods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9A5BA70-E2E1-4AB8-847B-7DF9D52EC67A}"/>
              </a:ext>
            </a:extLst>
          </p:cNvPr>
          <p:cNvSpPr/>
          <p:nvPr/>
        </p:nvSpPr>
        <p:spPr>
          <a:xfrm>
            <a:off x="1988127" y="170410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DBD643C2-F24F-468E-AF71-93F191F8B29C}"/>
              </a:ext>
            </a:extLst>
          </p:cNvPr>
          <p:cNvSpPr/>
          <p:nvPr/>
        </p:nvSpPr>
        <p:spPr>
          <a:xfrm>
            <a:off x="6321829" y="170410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6CA3381-189D-4308-A4CB-025BFEAE81B4}"/>
              </a:ext>
            </a:extLst>
          </p:cNvPr>
          <p:cNvSpPr/>
          <p:nvPr/>
        </p:nvSpPr>
        <p:spPr>
          <a:xfrm>
            <a:off x="1989512" y="293854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FEFE497-8AF3-40CC-AF7C-E61895A34D84}"/>
              </a:ext>
            </a:extLst>
          </p:cNvPr>
          <p:cNvSpPr/>
          <p:nvPr/>
        </p:nvSpPr>
        <p:spPr>
          <a:xfrm>
            <a:off x="6321828" y="2971800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B94C77A7-840E-469E-9A2E-F6E55E45DAC4}"/>
              </a:ext>
            </a:extLst>
          </p:cNvPr>
          <p:cNvSpPr/>
          <p:nvPr/>
        </p:nvSpPr>
        <p:spPr>
          <a:xfrm>
            <a:off x="1988127" y="417298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F9384E6-0905-450F-B193-9D4A3A13872B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3A37160-73F8-4B11-88D3-32E84DACB514}"/>
              </a:ext>
            </a:extLst>
          </p:cNvPr>
          <p:cNvSpPr/>
          <p:nvPr/>
        </p:nvSpPr>
        <p:spPr>
          <a:xfrm>
            <a:off x="4828376" y="99996"/>
            <a:ext cx="2535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Agenda: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F9C6381-E307-4AE0-A6AF-D5F6EFA96BDE}"/>
              </a:ext>
            </a:extLst>
          </p:cNvPr>
          <p:cNvSpPr/>
          <p:nvPr/>
        </p:nvSpPr>
        <p:spPr>
          <a:xfrm>
            <a:off x="6180513" y="417298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Transfer </a:t>
            </a:r>
            <a:r>
              <a:rPr lang="es-ES" dirty="0" err="1">
                <a:solidFill>
                  <a:schemeClr val="bg1"/>
                </a:solidFill>
              </a:rPr>
              <a:t>Learning</a:t>
            </a:r>
            <a:r>
              <a:rPr lang="es-ES" dirty="0">
                <a:solidFill>
                  <a:schemeClr val="bg1"/>
                </a:solidFill>
              </a:rPr>
              <a:t> &amp; Fine </a:t>
            </a:r>
            <a:r>
              <a:rPr lang="es-ES" dirty="0" err="1">
                <a:solidFill>
                  <a:schemeClr val="bg1"/>
                </a:solidFill>
              </a:rPr>
              <a:t>Tuning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3BDA572-1E75-4BFC-91C5-CA60E2A931CC}"/>
              </a:ext>
            </a:extLst>
          </p:cNvPr>
          <p:cNvSpPr/>
          <p:nvPr/>
        </p:nvSpPr>
        <p:spPr>
          <a:xfrm>
            <a:off x="6331527" y="417298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131F18C-69F3-4516-A9C2-2679122BAADC}"/>
              </a:ext>
            </a:extLst>
          </p:cNvPr>
          <p:cNvSpPr/>
          <p:nvPr/>
        </p:nvSpPr>
        <p:spPr>
          <a:xfrm>
            <a:off x="3848793" y="540742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Conclusions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0B32A32-D40A-45D5-86CF-A3A124CE66D9}"/>
              </a:ext>
            </a:extLst>
          </p:cNvPr>
          <p:cNvSpPr/>
          <p:nvPr/>
        </p:nvSpPr>
        <p:spPr>
          <a:xfrm>
            <a:off x="3999807" y="540742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6049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4599948" y="99996"/>
            <a:ext cx="2992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8E4B1F-04F2-477A-8787-C71D49E53D58}"/>
              </a:ext>
            </a:extLst>
          </p:cNvPr>
          <p:cNvSpPr txBox="1"/>
          <p:nvPr/>
        </p:nvSpPr>
        <p:spPr>
          <a:xfrm>
            <a:off x="2826324" y="2352502"/>
            <a:ext cx="6539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Compare </a:t>
            </a:r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methods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Deep </a:t>
            </a:r>
            <a:r>
              <a:rPr lang="es-ES" dirty="0" err="1"/>
              <a:t>learning</a:t>
            </a:r>
            <a:r>
              <a:rPr lang="es-ES" dirty="0"/>
              <a:t>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classification</a:t>
            </a:r>
            <a:r>
              <a:rPr lang="es-E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Build</a:t>
            </a:r>
            <a:r>
              <a:rPr lang="es-ES" dirty="0"/>
              <a:t> </a:t>
            </a:r>
            <a:r>
              <a:rPr lang="es-ES" dirty="0" err="1"/>
              <a:t>Convolutional</a:t>
            </a:r>
            <a:r>
              <a:rPr lang="es-ES" dirty="0"/>
              <a:t> Neuronal Network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start</a:t>
            </a:r>
            <a:r>
              <a:rPr lang="es-ES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Build</a:t>
            </a:r>
            <a:r>
              <a:rPr lang="es-ES" dirty="0"/>
              <a:t> </a:t>
            </a:r>
            <a:r>
              <a:rPr lang="es-ES" dirty="0" err="1"/>
              <a:t>Convolutional</a:t>
            </a:r>
            <a:r>
              <a:rPr lang="es-ES" dirty="0"/>
              <a:t> Neuronal Network </a:t>
            </a:r>
            <a:r>
              <a:rPr lang="es-ES" dirty="0" err="1"/>
              <a:t>based</a:t>
            </a:r>
            <a:r>
              <a:rPr lang="es-ES" dirty="0"/>
              <a:t> in </a:t>
            </a:r>
            <a:r>
              <a:rPr lang="es-ES" dirty="0" err="1"/>
              <a:t>already</a:t>
            </a:r>
            <a:r>
              <a:rPr lang="es-ES" dirty="0"/>
              <a:t> </a:t>
            </a:r>
            <a:r>
              <a:rPr lang="es-ES" dirty="0" err="1"/>
              <a:t>trained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.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99000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3585701" y="99996"/>
            <a:ext cx="50206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Exploration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8E4B1F-04F2-477A-8787-C71D49E53D58}"/>
              </a:ext>
            </a:extLst>
          </p:cNvPr>
          <p:cNvSpPr txBox="1"/>
          <p:nvPr/>
        </p:nvSpPr>
        <p:spPr>
          <a:xfrm>
            <a:off x="2826324" y="2352502"/>
            <a:ext cx="65393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60000 </a:t>
            </a:r>
            <a:r>
              <a:rPr lang="es-ES" dirty="0" err="1"/>
              <a:t>Images</a:t>
            </a:r>
            <a:r>
              <a:rPr lang="es-ES" dirty="0"/>
              <a:t>, 32 x 32 </a:t>
            </a:r>
            <a:r>
              <a:rPr lang="es-ES" dirty="0" err="1"/>
              <a:t>pixels</a:t>
            </a:r>
            <a:r>
              <a:rPr lang="es-E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/>
              <a:t>50000 for </a:t>
            </a:r>
            <a:r>
              <a:rPr lang="ca-ES" dirty="0" err="1"/>
              <a:t>train</a:t>
            </a:r>
            <a:r>
              <a:rPr lang="ca-ES" dirty="0"/>
              <a:t> 10000 for test.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10 </a:t>
            </a:r>
            <a:r>
              <a:rPr lang="es-ES" dirty="0" err="1"/>
              <a:t>Classes</a:t>
            </a:r>
            <a:r>
              <a:rPr lang="es-E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6000 </a:t>
            </a:r>
            <a:r>
              <a:rPr lang="es-ES" dirty="0" err="1"/>
              <a:t>images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class</a:t>
            </a:r>
            <a:r>
              <a:rPr lang="es-ES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" dirty="0" err="1"/>
              <a:t>Balanced</a:t>
            </a:r>
            <a:r>
              <a:rPr lang="es-E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ca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F30EB9-4E2E-4B08-B8C3-2B1C80B90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670" y="2440699"/>
            <a:ext cx="4036002" cy="18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3258243" y="99996"/>
            <a:ext cx="5675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Preprocessing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8E4B1F-04F2-477A-8787-C71D49E53D58}"/>
              </a:ext>
            </a:extLst>
          </p:cNvPr>
          <p:cNvSpPr txBox="1"/>
          <p:nvPr/>
        </p:nvSpPr>
        <p:spPr>
          <a:xfrm>
            <a:off x="2231966" y="2056199"/>
            <a:ext cx="77280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1. Reshape the input images to add the channel dimension expected by CNNs.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 sure that all the images have the same Height, Width and RGB.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2. Normalize pixel values to the [0, 1] range.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Adam and SGD works better with values close to 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for Mathematic calculations.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3. Encode the labels using one-hot encoding for categorical classification.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class has the same weight.</a:t>
            </a:r>
            <a:endParaRPr lang="es-ES" dirty="0"/>
          </a:p>
          <a:p>
            <a:pPr lvl="1"/>
            <a:endParaRPr lang="ca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49EFF0-FB00-4A33-9C3D-A0155C3E51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836" b="72762"/>
          <a:stretch/>
        </p:blipFill>
        <p:spPr>
          <a:xfrm>
            <a:off x="816638" y="5380245"/>
            <a:ext cx="4883210" cy="9599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C53F90-804D-4D6D-BB7D-9E5F226DD8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528" r="18318" b="33921"/>
          <a:stretch/>
        </p:blipFill>
        <p:spPr>
          <a:xfrm>
            <a:off x="3781380" y="4153842"/>
            <a:ext cx="4629236" cy="114715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70A5DD7-E4E1-49B8-B366-150E5C0C9E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401" r="13836"/>
          <a:stretch/>
        </p:blipFill>
        <p:spPr>
          <a:xfrm>
            <a:off x="6322346" y="5391503"/>
            <a:ext cx="4883210" cy="93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46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4493643" y="99996"/>
            <a:ext cx="3204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CNN: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21794DE-D9D7-2F7E-8285-280EAEC3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877" y="1761672"/>
            <a:ext cx="3945618" cy="310968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1B14448-2732-066A-4BB4-225F8ABE103F}"/>
              </a:ext>
            </a:extLst>
          </p:cNvPr>
          <p:cNvSpPr txBox="1"/>
          <p:nvPr/>
        </p:nvSpPr>
        <p:spPr>
          <a:xfrm>
            <a:off x="4786480" y="5292885"/>
            <a:ext cx="706766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/>
              <a:t>First Model Created determines that the model was overfitted.</a:t>
            </a:r>
            <a:endParaRPr lang="en-US" dirty="0"/>
          </a:p>
          <a:p>
            <a:pPr marL="285750" indent="-285750">
              <a:buAutoNum type="arabicPeriod"/>
            </a:pPr>
            <a:r>
              <a:rPr lang="en-US" dirty="0"/>
              <a:t>Adding Dropout in the Convolutional Layers seems that the gap </a:t>
            </a:r>
            <a:r>
              <a:rPr lang="en-US"/>
              <a:t>between Acc and Val Acc decrease. [Acc decrease, Val Acc keeps equal].</a:t>
            </a:r>
            <a:br>
              <a:rPr lang="en-US" dirty="0"/>
            </a:br>
            <a:r>
              <a:rPr lang="en-US"/>
              <a:t>So, Model needs more time to memorize.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8C85EE-F8D7-88EB-4F99-BB55DCDDCB8E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Adam as </a:t>
            </a:r>
            <a:r>
              <a:rPr lang="en-US" dirty="0" err="1">
                <a:highlight>
                  <a:srgbClr val="000000"/>
                </a:highlight>
              </a:rPr>
              <a:t>a</a:t>
            </a:r>
            <a:r>
              <a:rPr lang="en-US" dirty="0">
                <a:highlight>
                  <a:srgbClr val="000000"/>
                </a:highlight>
              </a:rPr>
              <a:t> Optimizer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06F6887-CD81-E842-83EE-D38C60875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007" y="1761672"/>
            <a:ext cx="4578224" cy="311064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F44D687-9CA7-D46C-212F-C0D400183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310" y="5354572"/>
            <a:ext cx="1752752" cy="96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12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7900-781D-AC1D-5F84-96A4F6D9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7014FAE4-DD18-6D13-0052-3F031644B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AD87482-A6EB-42BD-7822-561CA5899F13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3B75CFE-B942-ECF6-1407-DCF58F035B0A}"/>
              </a:ext>
            </a:extLst>
          </p:cNvPr>
          <p:cNvSpPr/>
          <p:nvPr/>
        </p:nvSpPr>
        <p:spPr>
          <a:xfrm>
            <a:off x="4493643" y="99996"/>
            <a:ext cx="3204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CNN: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A5925AEC-D2CF-6A77-984F-C77C8754027C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9CB3E94-F5EB-515B-B4B3-35066F4EB5EF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Adam as a Optimizer and Learning Rate = 0.0001 [Default 0.001]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1877D02-3589-0424-EFF7-B45BBE558541}"/>
              </a:ext>
            </a:extLst>
          </p:cNvPr>
          <p:cNvSpPr txBox="1"/>
          <p:nvPr/>
        </p:nvSpPr>
        <p:spPr>
          <a:xfrm>
            <a:off x="6368538" y="1780429"/>
            <a:ext cx="5282407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dirty="0"/>
              <a:t>Reducing Learning Rate improves the result [Val Acc] but is overfitted again, it's logic because model needs more epochs until is not improving anymore, so is memorizing. </a:t>
            </a:r>
          </a:p>
          <a:p>
            <a:pPr marL="285750" indent="-285750">
              <a:buAutoNum type="arabicPeriod"/>
            </a:pPr>
            <a:r>
              <a:rPr lang="en-US" dirty="0" err="1"/>
              <a:t>Trainning</a:t>
            </a:r>
            <a:r>
              <a:rPr lang="en-US" dirty="0"/>
              <a:t> progress is slower but more steady</a:t>
            </a:r>
          </a:p>
          <a:p>
            <a:pPr marL="285750" indent="-285750">
              <a:buAutoNum type="arabicPeriod"/>
            </a:pPr>
            <a:r>
              <a:rPr lang="en-US" dirty="0"/>
              <a:t>Needs more Epochs to converge.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18947C-468E-5390-7D8F-3EBB8454D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766" y="1780429"/>
            <a:ext cx="4429697" cy="30047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056CE39-2D7B-22A5-A2A0-57253FA03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902" y="5381244"/>
            <a:ext cx="1668925" cy="9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73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6E457-57E5-B471-0F5E-068C658A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EF89E3-DAD3-91B4-442A-9502CEFC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766" y="1779393"/>
            <a:ext cx="4465858" cy="3022243"/>
          </a:xfrm>
          <a:prstGeom prst="rect">
            <a:avLst/>
          </a:prstGeom>
        </p:spPr>
      </p:pic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4F27E914-ED3D-F5ED-11C7-2104E6F0F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83389EC-D0F3-2E42-8EC6-FCE6F3167675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B603023-637A-83EA-7F42-FD813F619DC8}"/>
              </a:ext>
            </a:extLst>
          </p:cNvPr>
          <p:cNvSpPr/>
          <p:nvPr/>
        </p:nvSpPr>
        <p:spPr>
          <a:xfrm>
            <a:off x="4493643" y="99996"/>
            <a:ext cx="3204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CNN: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902147F4-5290-860C-FB23-3852E309450A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B86A66-DCB5-BC6F-276C-23D41C40E915}"/>
              </a:ext>
            </a:extLst>
          </p:cNvPr>
          <p:cNvSpPr txBox="1"/>
          <p:nvPr/>
        </p:nvSpPr>
        <p:spPr>
          <a:xfrm>
            <a:off x="6095996" y="1946656"/>
            <a:ext cx="470223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dirty="0"/>
              <a:t>SGD </a:t>
            </a:r>
            <a:r>
              <a:rPr lang="en-US" dirty="0" err="1"/>
              <a:t>doesnt</a:t>
            </a:r>
            <a:r>
              <a:rPr lang="en-US" dirty="0"/>
              <a:t> improve the </a:t>
            </a:r>
            <a:r>
              <a:rPr lang="en-US" dirty="0" err="1"/>
              <a:t>val_accuracy</a:t>
            </a:r>
            <a:r>
              <a:rPr lang="en-US" dirty="0"/>
              <a:t> and </a:t>
            </a:r>
            <a:r>
              <a:rPr lang="en-US" dirty="0" err="1"/>
              <a:t>val_loss</a:t>
            </a:r>
            <a:r>
              <a:rPr lang="en-US" dirty="0"/>
              <a:t> as much as Adam optimizer.</a:t>
            </a:r>
          </a:p>
          <a:p>
            <a:pPr marL="285750" indent="-285750">
              <a:buAutoNum type="arabicPeriod"/>
            </a:pP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FD312A-87DD-D05A-CAAD-B563E8C856A1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SGD as a Optimizer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78E929-C559-7088-B0C6-527C8DAA3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270" y="5350762"/>
            <a:ext cx="1760373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6E457-57E5-B471-0F5E-068C658A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C1E44122-CFEC-F4D4-D8B5-B5BFF016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270" y="5350762"/>
            <a:ext cx="1760373" cy="9678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9D918DA-594F-9C08-A1ED-1215E5355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766" y="1779394"/>
            <a:ext cx="4465858" cy="3027436"/>
          </a:xfrm>
          <a:prstGeom prst="rect">
            <a:avLst/>
          </a:prstGeom>
        </p:spPr>
      </p:pic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4F27E914-ED3D-F5ED-11C7-2104E6F0F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83389EC-D0F3-2E42-8EC6-FCE6F3167675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B603023-637A-83EA-7F42-FD813F619DC8}"/>
              </a:ext>
            </a:extLst>
          </p:cNvPr>
          <p:cNvSpPr/>
          <p:nvPr/>
        </p:nvSpPr>
        <p:spPr>
          <a:xfrm>
            <a:off x="4493643" y="99996"/>
            <a:ext cx="3204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CNN: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902147F4-5290-860C-FB23-3852E309450A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B86A66-DCB5-BC6F-276C-23D41C40E915}"/>
              </a:ext>
            </a:extLst>
          </p:cNvPr>
          <p:cNvSpPr txBox="1"/>
          <p:nvPr/>
        </p:nvSpPr>
        <p:spPr>
          <a:xfrm>
            <a:off x="6095996" y="1839699"/>
            <a:ext cx="4702235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dirty="0"/>
              <a:t>The result decreasing Learning Rate in SGD is the same as Adam. </a:t>
            </a:r>
            <a:r>
              <a:rPr lang="en-US" dirty="0" err="1"/>
              <a:t>Val_Accuracy</a:t>
            </a:r>
            <a:r>
              <a:rPr lang="en-US" dirty="0"/>
              <a:t> is better but models goes to Overfitting because the gap becomes greater.</a:t>
            </a:r>
          </a:p>
          <a:p>
            <a:pPr marL="285750" indent="-285750">
              <a:buAutoNum type="arabicPeriod"/>
            </a:pPr>
            <a:r>
              <a:rPr lang="en-US" dirty="0"/>
              <a:t>Needs many Epochs, 46.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F587F8-B3F9-4490-0124-6A9F22F11D6D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SGD as a Optimizer and Learning Rate = 0.001 [Default 0.01]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864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1CE5F3BA-0B28-0ABB-5756-D49280C7B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619" y="4261482"/>
            <a:ext cx="1783235" cy="95258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7518CA8-A44B-59DE-43EE-41FD23D65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556" y="1763731"/>
            <a:ext cx="3457362" cy="229182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B29DAB6-108E-0EDC-2AD3-DF533AAAC9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516" r="69919"/>
          <a:stretch/>
        </p:blipFill>
        <p:spPr>
          <a:xfrm>
            <a:off x="4955500" y="2137985"/>
            <a:ext cx="2283125" cy="1543317"/>
          </a:xfrm>
          <a:prstGeom prst="rect">
            <a:avLst/>
          </a:prstGeom>
        </p:spPr>
      </p:pic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2825942" y="99996"/>
            <a:ext cx="65401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Improvement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Methods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B14448-2732-066A-4BB4-225F8ABE103F}"/>
              </a:ext>
            </a:extLst>
          </p:cNvPr>
          <p:cNvSpPr txBox="1"/>
          <p:nvPr/>
        </p:nvSpPr>
        <p:spPr>
          <a:xfrm>
            <a:off x="2897805" y="5511508"/>
            <a:ext cx="706766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dirty="0"/>
              <a:t>Train Accuracy progress is slower, makes sense because in each epoch is seeing new pictures (rotated and with new dimensions).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8C85EE-F8D7-88EB-4F99-BB55DCDDCB8E}"/>
              </a:ext>
            </a:extLst>
          </p:cNvPr>
          <p:cNvSpPr txBox="1"/>
          <p:nvPr/>
        </p:nvSpPr>
        <p:spPr>
          <a:xfrm>
            <a:off x="1651458" y="1124832"/>
            <a:ext cx="888907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Data Augmentation</a:t>
            </a:r>
          </a:p>
          <a:p>
            <a:pPr algn="ctr"/>
            <a:r>
              <a:rPr lang="en-US" i="1" dirty="0">
                <a:highlight>
                  <a:srgbClr val="000000"/>
                </a:highlight>
              </a:rPr>
              <a:t>Adam Vs SGD</a:t>
            </a:r>
            <a:endParaRPr lang="es-ES" i="1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4AACF36-B7C1-26B9-758C-3B67D07E5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208" y="1763732"/>
            <a:ext cx="3463291" cy="229182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FC53FAE1-A91E-194B-01C5-69E3FF8012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2235" y="4261482"/>
            <a:ext cx="1783235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23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3F0F9BE8-E3C5-4E17-3DA0-1DF4D5F8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766" y="4296237"/>
            <a:ext cx="1752752" cy="96782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B4CAF7E-FCCE-8539-1729-E5097AF5A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924" y="4263193"/>
            <a:ext cx="1722269" cy="9602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14D5C25-1FE9-CE0B-C796-25EF0A92C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52" y="1772509"/>
            <a:ext cx="3463291" cy="23072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557EF5B-50EC-355E-B179-124D47F75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766" y="1763731"/>
            <a:ext cx="3440184" cy="2304923"/>
          </a:xfrm>
          <a:prstGeom prst="rect">
            <a:avLst/>
          </a:prstGeom>
        </p:spPr>
      </p:pic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1511545" y="99996"/>
            <a:ext cx="91689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Transfer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Learning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Fine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Tuning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B14448-2732-066A-4BB4-225F8ABE103F}"/>
              </a:ext>
            </a:extLst>
          </p:cNvPr>
          <p:cNvSpPr txBox="1"/>
          <p:nvPr/>
        </p:nvSpPr>
        <p:spPr>
          <a:xfrm>
            <a:off x="679702" y="5393728"/>
            <a:ext cx="4933632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s-ES" sz="1400" dirty="0" err="1"/>
              <a:t>From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beginning</a:t>
            </a:r>
            <a:r>
              <a:rPr lang="es-ES" sz="1400" dirty="0"/>
              <a:t> </a:t>
            </a:r>
            <a:r>
              <a:rPr lang="es-ES" sz="1400" dirty="0" err="1"/>
              <a:t>val_accuracy</a:t>
            </a:r>
            <a:r>
              <a:rPr lang="es-ES" sz="1400" dirty="0"/>
              <a:t> </a:t>
            </a:r>
            <a:r>
              <a:rPr lang="es-ES" sz="1400" dirty="0" err="1"/>
              <a:t>is</a:t>
            </a:r>
            <a:r>
              <a:rPr lang="es-ES" sz="1400" dirty="0"/>
              <a:t> </a:t>
            </a:r>
            <a:r>
              <a:rPr lang="es-ES" sz="1400" dirty="0" err="1"/>
              <a:t>over</a:t>
            </a:r>
            <a:r>
              <a:rPr lang="es-ES" sz="1400" dirty="0"/>
              <a:t> 80% and </a:t>
            </a:r>
            <a:r>
              <a:rPr lang="es-ES" sz="1400" dirty="0" err="1"/>
              <a:t>this</a:t>
            </a:r>
            <a:r>
              <a:rPr lang="es-ES" sz="1400" dirty="0"/>
              <a:t> </a:t>
            </a:r>
            <a:r>
              <a:rPr lang="es-ES" sz="1400" dirty="0" err="1"/>
              <a:t>is</a:t>
            </a:r>
            <a:r>
              <a:rPr lang="es-ES" sz="1400" dirty="0"/>
              <a:t> </a:t>
            </a:r>
            <a:r>
              <a:rPr lang="es-ES" sz="1400" dirty="0" err="1"/>
              <a:t>due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has </a:t>
            </a:r>
            <a:r>
              <a:rPr lang="es-ES" sz="1400" dirty="0" err="1"/>
              <a:t>been</a:t>
            </a:r>
            <a:r>
              <a:rPr lang="es-ES" sz="1400" dirty="0"/>
              <a:t> </a:t>
            </a:r>
            <a:r>
              <a:rPr lang="es-ES" sz="1400" dirty="0" err="1"/>
              <a:t>created</a:t>
            </a:r>
            <a:r>
              <a:rPr lang="es-ES" sz="1400" dirty="0"/>
              <a:t> </a:t>
            </a:r>
            <a:r>
              <a:rPr lang="es-ES" sz="1400" dirty="0" err="1"/>
              <a:t>using</a:t>
            </a:r>
            <a:r>
              <a:rPr lang="es-ES" sz="1400" dirty="0"/>
              <a:t> </a:t>
            </a:r>
            <a:r>
              <a:rPr lang="es-ES" sz="1400" dirty="0" err="1"/>
              <a:t>an</a:t>
            </a:r>
            <a:r>
              <a:rPr lang="es-ES" sz="1400" dirty="0"/>
              <a:t> </a:t>
            </a:r>
            <a:r>
              <a:rPr lang="es-ES" sz="1400" dirty="0" err="1"/>
              <a:t>already</a:t>
            </a:r>
            <a:r>
              <a:rPr lang="es-ES" sz="1400" dirty="0"/>
              <a:t> </a:t>
            </a:r>
            <a:r>
              <a:rPr lang="es-ES" sz="1400" dirty="0" err="1"/>
              <a:t>trianed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which</a:t>
            </a:r>
            <a:r>
              <a:rPr lang="es-ES" sz="1400" dirty="0"/>
              <a:t> has </a:t>
            </a:r>
            <a:r>
              <a:rPr lang="es-ES" sz="1400" dirty="0" err="1"/>
              <a:t>been</a:t>
            </a:r>
            <a:r>
              <a:rPr lang="es-ES" sz="1400" dirty="0"/>
              <a:t> </a:t>
            </a:r>
            <a:r>
              <a:rPr lang="es-ES" sz="1400" dirty="0" err="1"/>
              <a:t>trained</a:t>
            </a:r>
            <a:r>
              <a:rPr lang="es-ES" sz="1400" dirty="0"/>
              <a:t> </a:t>
            </a:r>
            <a:r>
              <a:rPr lang="es-ES" sz="1400" dirty="0" err="1"/>
              <a:t>with</a:t>
            </a:r>
            <a:r>
              <a:rPr lang="es-ES" sz="1400" dirty="0"/>
              <a:t> </a:t>
            </a:r>
            <a:r>
              <a:rPr lang="es-ES" sz="1400" dirty="0" err="1"/>
              <a:t>milions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images</a:t>
            </a:r>
            <a:r>
              <a:rPr lang="es-ES" sz="1400" dirty="0"/>
              <a:t>.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8C85EE-F8D7-88EB-4F99-BB55DCDDCB8E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MobileNetV2 pretrained with ImageNet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F7B8B86-6F40-777E-924C-73BA0D012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632" y="2176506"/>
            <a:ext cx="2324727" cy="1479372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68B29377-A40B-CA40-083A-2FC892154986}"/>
              </a:ext>
            </a:extLst>
          </p:cNvPr>
          <p:cNvSpPr txBox="1"/>
          <p:nvPr/>
        </p:nvSpPr>
        <p:spPr>
          <a:xfrm>
            <a:off x="3293289" y="4263193"/>
            <a:ext cx="453509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s-ES" sz="1400" dirty="0" err="1"/>
              <a:t>Resize</a:t>
            </a:r>
            <a:r>
              <a:rPr lang="es-ES" sz="1400" dirty="0"/>
              <a:t> </a:t>
            </a:r>
            <a:r>
              <a:rPr lang="es-ES" sz="1400" dirty="0" err="1"/>
              <a:t>images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128x128 </a:t>
            </a:r>
            <a:r>
              <a:rPr lang="es-ES" sz="1400" dirty="0" err="1"/>
              <a:t>pixels</a:t>
            </a:r>
            <a:r>
              <a:rPr lang="es-ES" sz="1400" dirty="0"/>
              <a:t> and </a:t>
            </a:r>
            <a:r>
              <a:rPr lang="es-ES" sz="1400" dirty="0" err="1"/>
              <a:t>applied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preprocess_input</a:t>
            </a:r>
            <a:r>
              <a:rPr lang="es-ES" sz="1400" dirty="0"/>
              <a:t>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A53839D-2273-6B31-3B10-F84B2E439830}"/>
              </a:ext>
            </a:extLst>
          </p:cNvPr>
          <p:cNvSpPr txBox="1"/>
          <p:nvPr/>
        </p:nvSpPr>
        <p:spPr>
          <a:xfrm>
            <a:off x="6289755" y="5393728"/>
            <a:ext cx="5599884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s-ES" sz="1400" dirty="0" err="1"/>
              <a:t>Using</a:t>
            </a:r>
            <a:r>
              <a:rPr lang="es-ES" sz="1400" dirty="0"/>
              <a:t> </a:t>
            </a:r>
            <a:r>
              <a:rPr lang="es-ES" sz="1400" dirty="0" err="1"/>
              <a:t>lower</a:t>
            </a:r>
            <a:r>
              <a:rPr lang="es-ES" sz="1400" dirty="0"/>
              <a:t> LR,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needs</a:t>
            </a:r>
            <a:r>
              <a:rPr lang="es-ES" sz="1400" dirty="0"/>
              <a:t> more </a:t>
            </a:r>
            <a:r>
              <a:rPr lang="es-ES" sz="1400" dirty="0" err="1"/>
              <a:t>epochs</a:t>
            </a:r>
            <a:r>
              <a:rPr lang="es-ES" sz="1400" dirty="0"/>
              <a:t>, </a:t>
            </a:r>
            <a:r>
              <a:rPr lang="es-ES" sz="1400" dirty="0" err="1"/>
              <a:t>improves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result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0,91 and </a:t>
            </a:r>
            <a:r>
              <a:rPr lang="es-ES" sz="1400" dirty="0" err="1"/>
              <a:t>starts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be </a:t>
            </a:r>
            <a:r>
              <a:rPr lang="es-ES" sz="1400" dirty="0" err="1"/>
              <a:t>steady</a:t>
            </a:r>
            <a:r>
              <a:rPr lang="es-ES" sz="1400" dirty="0"/>
              <a:t> after </a:t>
            </a:r>
            <a:r>
              <a:rPr lang="es-ES" sz="1400" dirty="0" err="1"/>
              <a:t>epoch</a:t>
            </a:r>
            <a:r>
              <a:rPr lang="es-ES" sz="1400" dirty="0"/>
              <a:t> 10. </a:t>
            </a:r>
            <a:r>
              <a:rPr lang="es-ES" sz="1400" dirty="0" err="1"/>
              <a:t>Means</a:t>
            </a:r>
            <a:r>
              <a:rPr lang="es-ES" sz="1400" dirty="0"/>
              <a:t> </a:t>
            </a:r>
            <a:r>
              <a:rPr lang="es-ES" sz="1400" dirty="0" err="1"/>
              <a:t>that</a:t>
            </a:r>
            <a:r>
              <a:rPr lang="es-ES" sz="1400" dirty="0"/>
              <a:t> Dense </a:t>
            </a:r>
            <a:r>
              <a:rPr lang="es-ES" sz="1400" dirty="0" err="1"/>
              <a:t>layers</a:t>
            </a:r>
            <a:r>
              <a:rPr lang="es-ES" sz="1400" dirty="0"/>
              <a:t> are </a:t>
            </a:r>
            <a:r>
              <a:rPr lang="es-ES" sz="1400" dirty="0" err="1"/>
              <a:t>reaching</a:t>
            </a:r>
            <a:r>
              <a:rPr lang="es-ES" sz="1400" dirty="0"/>
              <a:t> </a:t>
            </a:r>
            <a:r>
              <a:rPr lang="es-ES" sz="1400" dirty="0" err="1"/>
              <a:t>its</a:t>
            </a:r>
            <a:r>
              <a:rPr lang="es-ES" sz="1400" dirty="0"/>
              <a:t> </a:t>
            </a:r>
            <a:r>
              <a:rPr lang="es-ES" sz="1400" dirty="0" err="1"/>
              <a:t>limit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589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D103CDE-7DAD-A3E8-7343-E9C907C5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37"/>
          <a:stretch/>
        </p:blipFill>
        <p:spPr>
          <a:xfrm>
            <a:off x="2237879" y="4287782"/>
            <a:ext cx="1722269" cy="9784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4C27E06-5CBB-6DF4-2792-294350D71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620" y="1763732"/>
            <a:ext cx="3456724" cy="22866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199DFC6-A93E-10E0-C534-EA36EC77B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657" y="1763731"/>
            <a:ext cx="3456715" cy="2315999"/>
          </a:xfrm>
          <a:prstGeom prst="rect">
            <a:avLst/>
          </a:prstGeom>
        </p:spPr>
      </p:pic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1511545" y="99996"/>
            <a:ext cx="91689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Transfer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Learning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Fine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Tuning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8C85EE-F8D7-88EB-4F99-BB55DCDDCB8E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Model was trained unfreezing Layers of MobileNetV2 and LR 0.0001.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A53839D-2273-6B31-3B10-F84B2E439830}"/>
              </a:ext>
            </a:extLst>
          </p:cNvPr>
          <p:cNvSpPr txBox="1"/>
          <p:nvPr/>
        </p:nvSpPr>
        <p:spPr>
          <a:xfrm>
            <a:off x="1221968" y="5474241"/>
            <a:ext cx="9599375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s-ES" sz="1400" dirty="0"/>
              <a:t>In </a:t>
            </a:r>
            <a:r>
              <a:rPr lang="es-ES" sz="1400" dirty="0" err="1"/>
              <a:t>both</a:t>
            </a:r>
            <a:r>
              <a:rPr lang="es-ES" sz="1400" dirty="0"/>
              <a:t> </a:t>
            </a:r>
            <a:r>
              <a:rPr lang="es-ES" sz="1400" dirty="0" err="1"/>
              <a:t>experiments</a:t>
            </a:r>
            <a:r>
              <a:rPr lang="es-ES" sz="1400" dirty="0"/>
              <a:t> </a:t>
            </a:r>
            <a:r>
              <a:rPr lang="es-ES" sz="1400" dirty="0" err="1"/>
              <a:t>there</a:t>
            </a:r>
            <a:r>
              <a:rPr lang="es-ES" sz="1400" dirty="0"/>
              <a:t> are a </a:t>
            </a:r>
            <a:r>
              <a:rPr lang="es-ES" sz="1400" dirty="0" err="1"/>
              <a:t>big</a:t>
            </a:r>
            <a:r>
              <a:rPr lang="es-ES" sz="1400" dirty="0"/>
              <a:t> gap </a:t>
            </a:r>
            <a:r>
              <a:rPr lang="es-ES" sz="1400" dirty="0" err="1"/>
              <a:t>between</a:t>
            </a:r>
            <a:r>
              <a:rPr lang="es-ES" sz="1400" dirty="0"/>
              <a:t> </a:t>
            </a:r>
            <a:r>
              <a:rPr lang="es-ES" sz="1400" dirty="0" err="1"/>
              <a:t>accuracy</a:t>
            </a:r>
            <a:r>
              <a:rPr lang="es-ES" sz="1400" dirty="0"/>
              <a:t> (0.95-0.97) and </a:t>
            </a:r>
            <a:r>
              <a:rPr lang="es-ES" sz="1400" dirty="0" err="1"/>
              <a:t>val_accuracy</a:t>
            </a:r>
            <a:r>
              <a:rPr lang="es-ES" sz="1400" dirty="0"/>
              <a:t> (0.88) </a:t>
            </a:r>
            <a:r>
              <a:rPr lang="es-ES" sz="1400" dirty="0" err="1"/>
              <a:t>than</a:t>
            </a:r>
            <a:r>
              <a:rPr lang="es-ES" sz="1400" dirty="0"/>
              <a:t> </a:t>
            </a:r>
            <a:r>
              <a:rPr lang="es-ES" sz="1400" dirty="0" err="1"/>
              <a:t>any</a:t>
            </a:r>
            <a:r>
              <a:rPr lang="es-ES" sz="1400" dirty="0"/>
              <a:t> </a:t>
            </a:r>
            <a:r>
              <a:rPr lang="es-ES" sz="1400" dirty="0" err="1"/>
              <a:t>previous</a:t>
            </a:r>
            <a:r>
              <a:rPr lang="es-ES" sz="1400" dirty="0"/>
              <a:t> </a:t>
            </a:r>
            <a:r>
              <a:rPr lang="es-ES" sz="1400" dirty="0" err="1"/>
              <a:t>experiment</a:t>
            </a:r>
            <a:r>
              <a:rPr lang="es-ES" sz="1400" dirty="0"/>
              <a:t>, </a:t>
            </a:r>
            <a:r>
              <a:rPr lang="es-ES" sz="1400" dirty="0" err="1"/>
              <a:t>seems</a:t>
            </a:r>
            <a:r>
              <a:rPr lang="es-ES" sz="1400" dirty="0"/>
              <a:t> </a:t>
            </a:r>
            <a:r>
              <a:rPr lang="es-ES" sz="1400" dirty="0" err="1"/>
              <a:t>logic</a:t>
            </a:r>
            <a:r>
              <a:rPr lang="es-ES" sz="1400" dirty="0"/>
              <a:t> </a:t>
            </a:r>
            <a:r>
              <a:rPr lang="es-ES" sz="1400" dirty="0" err="1"/>
              <a:t>because</a:t>
            </a:r>
            <a:r>
              <a:rPr lang="es-ES" sz="1400" dirty="0"/>
              <a:t> MobileNetV2 </a:t>
            </a:r>
            <a:r>
              <a:rPr lang="es-ES" sz="1400" dirty="0" err="1"/>
              <a:t>is</a:t>
            </a:r>
            <a:r>
              <a:rPr lang="es-ES" sz="1400" dirty="0"/>
              <a:t> a </a:t>
            </a:r>
            <a:r>
              <a:rPr lang="es-ES" sz="1400" dirty="0" err="1"/>
              <a:t>huge</a:t>
            </a:r>
            <a:r>
              <a:rPr lang="es-ES" sz="1400" dirty="0"/>
              <a:t> Neuronal Network. </a:t>
            </a:r>
            <a:r>
              <a:rPr lang="es-ES" sz="1400" dirty="0" err="1"/>
              <a:t>It</a:t>
            </a:r>
            <a:r>
              <a:rPr lang="es-ES" sz="1400" dirty="0"/>
              <a:t> </a:t>
            </a:r>
            <a:r>
              <a:rPr lang="es-ES" sz="1400" dirty="0" err="1"/>
              <a:t>wins</a:t>
            </a:r>
            <a:r>
              <a:rPr lang="es-ES" sz="1400" dirty="0"/>
              <a:t> </a:t>
            </a:r>
            <a:r>
              <a:rPr lang="es-ES" sz="1400" dirty="0" err="1"/>
              <a:t>adaptability</a:t>
            </a:r>
            <a:r>
              <a:rPr lang="es-ES" sz="1400" dirty="0"/>
              <a:t> </a:t>
            </a:r>
            <a:r>
              <a:rPr lang="es-ES" sz="1400" dirty="0" err="1"/>
              <a:t>but</a:t>
            </a:r>
            <a:r>
              <a:rPr lang="es-ES" sz="1400" dirty="0"/>
              <a:t> </a:t>
            </a:r>
            <a:r>
              <a:rPr lang="es-ES" sz="1400" dirty="0" err="1"/>
              <a:t>there</a:t>
            </a:r>
            <a:r>
              <a:rPr lang="es-ES" sz="1400" dirty="0"/>
              <a:t> are </a:t>
            </a:r>
            <a:r>
              <a:rPr lang="es-ES" sz="1400" dirty="0" err="1"/>
              <a:t>risk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go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over</a:t>
            </a:r>
            <a:r>
              <a:rPr lang="es-ES" sz="1400" dirty="0"/>
              <a:t> </a:t>
            </a:r>
            <a:r>
              <a:rPr lang="es-ES" sz="1400"/>
              <a:t>adjustment</a:t>
            </a:r>
            <a:r>
              <a:rPr lang="es-ES" sz="1400" dirty="0"/>
              <a:t>, </a:t>
            </a:r>
            <a:r>
              <a:rPr lang="es-ES" sz="1400" dirty="0" err="1"/>
              <a:t>Thats</a:t>
            </a:r>
            <a:r>
              <a:rPr lang="es-ES" sz="1400" dirty="0"/>
              <a:t> </a:t>
            </a:r>
            <a:r>
              <a:rPr lang="es-ES" sz="1400" dirty="0" err="1"/>
              <a:t>why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Epochs</a:t>
            </a:r>
            <a:r>
              <a:rPr lang="es-ES" sz="1400" dirty="0"/>
              <a:t> in </a:t>
            </a:r>
            <a:r>
              <a:rPr lang="es-ES" sz="1400" dirty="0" err="1"/>
              <a:t>both</a:t>
            </a:r>
            <a:r>
              <a:rPr lang="es-ES" sz="1400" dirty="0"/>
              <a:t> cases are </a:t>
            </a:r>
            <a:r>
              <a:rPr lang="es-ES" sz="1400" dirty="0" err="1"/>
              <a:t>really</a:t>
            </a:r>
            <a:r>
              <a:rPr lang="es-ES" sz="1400" dirty="0"/>
              <a:t> </a:t>
            </a:r>
            <a:r>
              <a:rPr lang="es-ES" sz="1400" dirty="0" err="1"/>
              <a:t>low</a:t>
            </a:r>
            <a:r>
              <a:rPr lang="es-ES" sz="1400" dirty="0"/>
              <a:t>.</a:t>
            </a:r>
          </a:p>
          <a:p>
            <a:pPr marL="285750" indent="-285750">
              <a:buAutoNum type="arabicPeriod"/>
            </a:pPr>
            <a:endParaRPr lang="es-ES" sz="1400" dirty="0"/>
          </a:p>
          <a:p>
            <a:pPr marL="285750" indent="-285750">
              <a:buAutoNum type="arabicPeriod"/>
            </a:pPr>
            <a:r>
              <a:rPr lang="es-ES" sz="1400" dirty="0" err="1"/>
              <a:t>Unfreeze</a:t>
            </a:r>
            <a:r>
              <a:rPr lang="es-ES" sz="1400" dirty="0"/>
              <a:t> 10 </a:t>
            </a:r>
            <a:r>
              <a:rPr lang="es-ES" sz="1400" dirty="0" err="1"/>
              <a:t>layers</a:t>
            </a:r>
            <a:r>
              <a:rPr lang="es-ES" sz="1400" dirty="0"/>
              <a:t> </a:t>
            </a:r>
            <a:r>
              <a:rPr lang="es-ES" sz="1400" dirty="0" err="1"/>
              <a:t>is</a:t>
            </a:r>
            <a:r>
              <a:rPr lang="es-ES" sz="1400" dirty="0"/>
              <a:t> </a:t>
            </a:r>
            <a:r>
              <a:rPr lang="es-ES" sz="1400" dirty="0" err="1"/>
              <a:t>better</a:t>
            </a:r>
            <a:r>
              <a:rPr lang="es-ES" sz="1400" dirty="0"/>
              <a:t> </a:t>
            </a:r>
            <a:r>
              <a:rPr lang="es-ES" sz="1400" dirty="0" err="1"/>
              <a:t>than</a:t>
            </a:r>
            <a:r>
              <a:rPr lang="es-ES" sz="1400" dirty="0"/>
              <a:t> 20 </a:t>
            </a:r>
            <a:r>
              <a:rPr lang="es-ES" sz="1400" dirty="0" err="1"/>
              <a:t>layers</a:t>
            </a:r>
            <a:r>
              <a:rPr lang="es-ES" sz="1400" dirty="0"/>
              <a:t>, </a:t>
            </a:r>
            <a:r>
              <a:rPr lang="es-ES" sz="1400" dirty="0" err="1"/>
              <a:t>Model</a:t>
            </a:r>
            <a:r>
              <a:rPr lang="es-ES" sz="1400" dirty="0"/>
              <a:t> converge in les </a:t>
            </a:r>
            <a:r>
              <a:rPr lang="es-ES" sz="1400" dirty="0" err="1"/>
              <a:t>epochs</a:t>
            </a:r>
            <a:r>
              <a:rPr lang="es-ES" sz="1400" dirty="0"/>
              <a:t> (3 </a:t>
            </a:r>
            <a:r>
              <a:rPr lang="es-ES" sz="1400" dirty="0" err="1"/>
              <a:t>over</a:t>
            </a:r>
            <a:r>
              <a:rPr lang="es-ES" sz="1400" dirty="0"/>
              <a:t> 6) </a:t>
            </a:r>
            <a:r>
              <a:rPr lang="es-ES" sz="1400" dirty="0" err="1"/>
              <a:t>but</a:t>
            </a:r>
            <a:r>
              <a:rPr lang="es-ES" sz="1400" dirty="0"/>
              <a:t> </a:t>
            </a:r>
            <a:r>
              <a:rPr lang="es-ES" sz="1400" dirty="0" err="1"/>
              <a:t>starts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get</a:t>
            </a:r>
            <a:r>
              <a:rPr lang="es-ES" sz="1400" dirty="0"/>
              <a:t> </a:t>
            </a:r>
            <a:r>
              <a:rPr lang="es-ES" sz="1400" dirty="0" err="1"/>
              <a:t>overfitting</a:t>
            </a:r>
            <a:r>
              <a:rPr lang="es-ES" sz="1400" dirty="0"/>
              <a:t>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94FD0E6-1647-AF01-93C7-4E343CF505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0459" y="4285654"/>
            <a:ext cx="1798476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F5BDE5C-691E-DAE3-FD38-97C5CCDA5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613" y="1760827"/>
            <a:ext cx="4236618" cy="2788836"/>
          </a:xfrm>
          <a:prstGeom prst="rect">
            <a:avLst/>
          </a:prstGeom>
        </p:spPr>
      </p:pic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4401464" y="99996"/>
            <a:ext cx="33890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Conclusions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8C85EE-F8D7-88EB-4F99-BB55DCDDCB8E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CNN Created Vs Mobile Net.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A53839D-2273-6B31-3B10-F84B2E439830}"/>
              </a:ext>
            </a:extLst>
          </p:cNvPr>
          <p:cNvSpPr txBox="1"/>
          <p:nvPr/>
        </p:nvSpPr>
        <p:spPr>
          <a:xfrm>
            <a:off x="1198856" y="4783976"/>
            <a:ext cx="467633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sz="1400" dirty="0"/>
              <a:t>The model use to predict correctly but there are some confusions between classes.</a:t>
            </a:r>
          </a:p>
          <a:p>
            <a:pPr marL="285750" indent="-285750">
              <a:buAutoNum type="arabicPeriod"/>
            </a:pPr>
            <a:r>
              <a:rPr lang="en-US" sz="1400" dirty="0"/>
              <a:t>The model has a big confusion between classes Cat and Dog.</a:t>
            </a:r>
          </a:p>
          <a:p>
            <a:pPr marL="285750" indent="-285750">
              <a:buAutoNum type="arabicPeriod"/>
            </a:pPr>
            <a:r>
              <a:rPr lang="en-US" sz="1400" dirty="0"/>
              <a:t>Bird class has confusion with Cat, Deer and Dog.</a:t>
            </a:r>
          </a:p>
          <a:p>
            <a:pPr marL="285750" indent="-285750">
              <a:buFontTx/>
              <a:buAutoNum type="arabicPeriod"/>
            </a:pPr>
            <a:r>
              <a:rPr lang="es-ES" sz="1400" dirty="0" err="1"/>
              <a:t>This</a:t>
            </a:r>
            <a:r>
              <a:rPr lang="es-ES" sz="1400" dirty="0"/>
              <a:t> </a:t>
            </a:r>
            <a:r>
              <a:rPr lang="es-ES" sz="1400" dirty="0" err="1"/>
              <a:t>confusions</a:t>
            </a:r>
            <a:r>
              <a:rPr lang="es-ES" sz="1400" dirty="0"/>
              <a:t> are </a:t>
            </a:r>
            <a:r>
              <a:rPr lang="es-ES" sz="1400" dirty="0" err="1"/>
              <a:t>coherent</a:t>
            </a:r>
            <a:r>
              <a:rPr lang="es-ES" sz="1400" dirty="0"/>
              <a:t> </a:t>
            </a:r>
            <a:r>
              <a:rPr lang="es-ES" sz="1400" dirty="0" err="1"/>
              <a:t>because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our</a:t>
            </a:r>
            <a:r>
              <a:rPr lang="es-ES" sz="1400" dirty="0"/>
              <a:t> Simple CNN </a:t>
            </a:r>
            <a:r>
              <a:rPr lang="es-ES" sz="1400" dirty="0" err="1"/>
              <a:t>trained</a:t>
            </a:r>
            <a:r>
              <a:rPr lang="es-ES" sz="1400" dirty="0"/>
              <a:t> </a:t>
            </a:r>
            <a:r>
              <a:rPr lang="es-ES" sz="1400" dirty="0" err="1"/>
              <a:t>with</a:t>
            </a:r>
            <a:r>
              <a:rPr lang="es-ES" sz="1400" dirty="0"/>
              <a:t> </a:t>
            </a:r>
            <a:r>
              <a:rPr lang="es-ES" sz="1400" dirty="0" err="1"/>
              <a:t>images</a:t>
            </a:r>
            <a:r>
              <a:rPr lang="es-ES" sz="1400" dirty="0"/>
              <a:t> 32x32.</a:t>
            </a:r>
          </a:p>
          <a:p>
            <a:pPr marL="285750" indent="-285750">
              <a:buAutoNum type="arabicPeriod"/>
            </a:pPr>
            <a:endParaRPr lang="es-ES" sz="1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4255FCE-4A4C-E65A-07DA-1C7FAC8669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0656" y="1760827"/>
            <a:ext cx="4504535" cy="282069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CD73215-9DA4-209B-B55A-3DF3302CBC2B}"/>
              </a:ext>
            </a:extLst>
          </p:cNvPr>
          <p:cNvSpPr txBox="1"/>
          <p:nvPr/>
        </p:nvSpPr>
        <p:spPr>
          <a:xfrm>
            <a:off x="6561612" y="4783976"/>
            <a:ext cx="467633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with</a:t>
            </a:r>
            <a:r>
              <a:rPr lang="es-ES" sz="1400" dirty="0"/>
              <a:t> </a:t>
            </a:r>
            <a:r>
              <a:rPr lang="es-ES" sz="1400" dirty="0" err="1"/>
              <a:t>MobileNet</a:t>
            </a:r>
            <a:r>
              <a:rPr lang="es-ES" sz="1400" dirty="0"/>
              <a:t> has </a:t>
            </a:r>
            <a:r>
              <a:rPr lang="es-ES" sz="1400" dirty="0" err="1"/>
              <a:t>much</a:t>
            </a:r>
            <a:r>
              <a:rPr lang="es-ES" sz="1400" dirty="0"/>
              <a:t> </a:t>
            </a:r>
            <a:r>
              <a:rPr lang="es-ES" sz="1400" dirty="0" err="1"/>
              <a:t>better</a:t>
            </a:r>
            <a:r>
              <a:rPr lang="es-ES" sz="1400" dirty="0"/>
              <a:t> </a:t>
            </a:r>
            <a:r>
              <a:rPr lang="es-ES" sz="1400" dirty="0" err="1"/>
              <a:t>results</a:t>
            </a:r>
            <a:r>
              <a:rPr lang="es-ES" sz="1400" dirty="0"/>
              <a:t>, </a:t>
            </a:r>
            <a:r>
              <a:rPr lang="es-ES" sz="1400" dirty="0" err="1"/>
              <a:t>confusions</a:t>
            </a:r>
            <a:r>
              <a:rPr lang="es-ES" sz="1400" dirty="0"/>
              <a:t> </a:t>
            </a:r>
            <a:r>
              <a:rPr lang="es-ES" sz="1400" dirty="0" err="1"/>
              <a:t>between</a:t>
            </a:r>
            <a:r>
              <a:rPr lang="es-ES" sz="1400" dirty="0"/>
              <a:t> </a:t>
            </a:r>
            <a:r>
              <a:rPr lang="es-ES" sz="1400" dirty="0" err="1"/>
              <a:t>classes</a:t>
            </a:r>
            <a:r>
              <a:rPr lang="es-ES" sz="1400" dirty="0"/>
              <a:t> has </a:t>
            </a:r>
            <a:r>
              <a:rPr lang="es-ES" sz="1400" dirty="0" err="1"/>
              <a:t>reduced</a:t>
            </a:r>
            <a:r>
              <a:rPr lang="es-ES" sz="1400" dirty="0"/>
              <a:t>.</a:t>
            </a:r>
          </a:p>
          <a:p>
            <a:pPr marL="285750" indent="-285750">
              <a:buAutoNum type="arabicPeriod"/>
            </a:pPr>
            <a:r>
              <a:rPr lang="es-ES" sz="1400" dirty="0"/>
              <a:t>Cat and </a:t>
            </a:r>
            <a:r>
              <a:rPr lang="es-ES" sz="1400" dirty="0" err="1"/>
              <a:t>Dog</a:t>
            </a:r>
            <a:r>
              <a:rPr lang="es-ES" sz="1400" dirty="0"/>
              <a:t> </a:t>
            </a:r>
            <a:r>
              <a:rPr lang="es-ES" sz="1400" dirty="0" err="1"/>
              <a:t>is</a:t>
            </a:r>
            <a:r>
              <a:rPr lang="es-ES" sz="1400" dirty="0"/>
              <a:t> </a:t>
            </a:r>
            <a:r>
              <a:rPr lang="es-ES" sz="1400" dirty="0" err="1"/>
              <a:t>still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biggest</a:t>
            </a:r>
            <a:r>
              <a:rPr lang="es-ES" sz="1400" dirty="0"/>
              <a:t> confusión </a:t>
            </a:r>
            <a:r>
              <a:rPr lang="es-ES" sz="1400" dirty="0" err="1"/>
              <a:t>but</a:t>
            </a:r>
            <a:r>
              <a:rPr lang="es-ES" sz="1400" dirty="0"/>
              <a:t> </a:t>
            </a:r>
            <a:r>
              <a:rPr lang="es-ES" sz="1400" dirty="0" err="1"/>
              <a:t>it</a:t>
            </a:r>
            <a:r>
              <a:rPr lang="es-ES" sz="1400" dirty="0"/>
              <a:t> has </a:t>
            </a:r>
            <a:r>
              <a:rPr lang="es-ES" sz="1400" dirty="0" err="1"/>
              <a:t>been</a:t>
            </a:r>
            <a:r>
              <a:rPr lang="es-ES" sz="1400" dirty="0"/>
              <a:t> </a:t>
            </a:r>
            <a:r>
              <a:rPr lang="es-ES" sz="1400" dirty="0" err="1"/>
              <a:t>reduced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3236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BF0EB4-F14C-4E33-9706-7C4CF19A3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9181" y="2275681"/>
            <a:ext cx="8791575" cy="2306637"/>
          </a:xfrm>
        </p:spPr>
        <p:txBody>
          <a:bodyPr/>
          <a:lstStyle/>
          <a:p>
            <a:pPr algn="ctr"/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attention</a:t>
            </a:r>
            <a:r>
              <a:rPr lang="es-ES" dirty="0"/>
              <a:t>.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634164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{A9023AA8-1BCB-48CD-A9FA-B95B0C368471}TF6d5feb1e-e145-43f1-b745-cb4b54c5ee97494f94d6-c317f2461df2</Template>
  <TotalTime>7588</TotalTime>
  <Words>693</Words>
  <Application>Microsoft Office PowerPoint</Application>
  <PresentationFormat>Panorámica</PresentationFormat>
  <Paragraphs>86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Cambria</vt:lpstr>
      <vt:lpstr>Tw Cen MT</vt:lpstr>
      <vt:lpstr>Circuito</vt:lpstr>
      <vt:lpstr>Deep learning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 for your attention.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 Olivella</dc:creator>
  <cp:lastModifiedBy>Albert Olivella</cp:lastModifiedBy>
  <cp:revision>250</cp:revision>
  <dcterms:created xsi:type="dcterms:W3CDTF">2026-06-22T20:14:51Z</dcterms:created>
  <dcterms:modified xsi:type="dcterms:W3CDTF">2026-07-27T19:06:58Z</dcterms:modified>
</cp:coreProperties>
</file>